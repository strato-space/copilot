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431750"/>
            <a:ext cx="84461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STRATO SPACE / COPILOT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31750" y="777776"/>
            <a:ext cx="7432509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F4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Единая операционная платформа для роста маржи и скорости решений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31750" y="2442865"/>
            <a:ext cx="84461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8D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Discovery Deck • PMO • 03.03.2026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1750" y="2839641"/>
            <a:ext cx="806946" cy="349151"/>
          </a:xfrm>
          <a:prstGeom prst="roundRect">
            <a:avLst>
              <a:gd name="adj" fmla="val 29099"/>
            </a:avLst>
          </a:prstGeom>
          <a:solidFill>
            <a:srgbClr val="1826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0325" y="2839641"/>
            <a:ext cx="0" cy="349151"/>
          </a:xfrm>
          <a:prstGeom prst="line">
            <a:avLst/>
          </a:prstGeom>
          <a:noFill/>
          <a:ln w="57150">
            <a:solidFill>
              <a:srgbClr val="FF6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8501" y="2928491"/>
            <a:ext cx="4800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FinOps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65647" y="2839641"/>
            <a:ext cx="1301800" cy="349151"/>
          </a:xfrm>
          <a:prstGeom prst="roundRect">
            <a:avLst>
              <a:gd name="adj" fmla="val 29099"/>
            </a:avLst>
          </a:prstGeom>
          <a:solidFill>
            <a:srgbClr val="1826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394222" y="2839641"/>
            <a:ext cx="0" cy="349151"/>
          </a:xfrm>
          <a:prstGeom prst="line">
            <a:avLst/>
          </a:prstGeom>
          <a:noFill/>
          <a:ln w="57150">
            <a:solidFill>
              <a:srgbClr val="FF6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62398" y="2928491"/>
            <a:ext cx="9847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OperOps/CRM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94397" y="2839641"/>
            <a:ext cx="1331714" cy="349151"/>
          </a:xfrm>
          <a:prstGeom prst="roundRect">
            <a:avLst>
              <a:gd name="adj" fmla="val 29099"/>
            </a:avLst>
          </a:prstGeom>
          <a:solidFill>
            <a:srgbClr val="1826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822972" y="2839641"/>
            <a:ext cx="0" cy="349151"/>
          </a:xfrm>
          <a:prstGeom prst="line">
            <a:avLst/>
          </a:prstGeom>
          <a:noFill/>
          <a:ln w="57150">
            <a:solidFill>
              <a:srgbClr val="FF6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1148" y="2928491"/>
            <a:ext cx="10152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Workflow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1750" y="4559350"/>
            <a:ext cx="84461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1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Цель презентации: согласовать позиционирование Copilot и рамку discovery-пилота.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55550"/>
            <a:ext cx="854964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3100" b="1" dirty="0">
                <a:solidFill>
                  <a:srgbClr val="14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Проблема, которую закрывает Copilot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381000" y="980926"/>
            <a:ext cx="2692450" cy="3254573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019026"/>
            <a:ext cx="2692450" cy="0"/>
          </a:xfrm>
          <a:prstGeom prst="line">
            <a:avLst/>
          </a:prstGeom>
          <a:noFill/>
          <a:ln w="76200">
            <a:solidFill>
              <a:srgbClr val="FF6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3925" y="980926"/>
            <a:ext cx="0" cy="3254573"/>
          </a:xfrm>
          <a:prstGeom prst="line">
            <a:avLst/>
          </a:prstGeom>
          <a:noFill/>
          <a:ln w="19050">
            <a:solidFill>
              <a:srgbClr val="DE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" y="4225975"/>
            <a:ext cx="2692450" cy="0"/>
          </a:xfrm>
          <a:prstGeom prst="line">
            <a:avLst/>
          </a:prstGeom>
          <a:noFill/>
          <a:ln w="19050">
            <a:solidFill>
              <a:srgbClr val="DE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0525" y="980926"/>
            <a:ext cx="0" cy="3254573"/>
          </a:xfrm>
          <a:prstGeom prst="line">
            <a:avLst/>
          </a:prstGeom>
          <a:noFill/>
          <a:ln w="19050">
            <a:solidFill>
              <a:srgbClr val="DE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450" y="1209526"/>
            <a:ext cx="2396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020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Разрозненные данные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2450" y="1549152"/>
            <a:ext cx="2349550" cy="8102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95"/>
              </a:lnSpc>
              <a:buSzPct val="100000"/>
              <a:buChar char="•"/>
            </a:pPr>
            <a:r>
              <a:rPr lang="en-US" sz="1100" dirty="0">
                <a:solidFill>
                  <a:srgbClr val="1420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Финансы, задачи и встречи живут в разных контурах.</a:t>
            </a:r>
            <a:endParaRPr lang="en-US" sz="1100" dirty="0"/>
          </a:p>
          <a:p>
            <a:pPr algn="l" marL="114300" indent="-114300">
              <a:lnSpc>
                <a:spcPts val="1595"/>
              </a:lnSpc>
              <a:buSzPct val="100000"/>
              <a:buChar char="•"/>
            </a:pPr>
            <a:r>
              <a:rPr lang="en-US" sz="1100" dirty="0">
                <a:solidFill>
                  <a:srgbClr val="1420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Сложно получить единую картину по проекту и месяцу.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25850" y="980926"/>
            <a:ext cx="2692450" cy="3254573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25850" y="1019026"/>
            <a:ext cx="2692450" cy="0"/>
          </a:xfrm>
          <a:prstGeom prst="line">
            <a:avLst/>
          </a:prstGeom>
          <a:noFill/>
          <a:ln w="76200">
            <a:solidFill>
              <a:srgbClr val="FF6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08774" y="980926"/>
            <a:ext cx="0" cy="3254573"/>
          </a:xfrm>
          <a:prstGeom prst="line">
            <a:avLst/>
          </a:prstGeom>
          <a:noFill/>
          <a:ln w="19050">
            <a:solidFill>
              <a:srgbClr val="DE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5850" y="4225975"/>
            <a:ext cx="2692450" cy="0"/>
          </a:xfrm>
          <a:prstGeom prst="line">
            <a:avLst/>
          </a:prstGeom>
          <a:noFill/>
          <a:ln w="19050">
            <a:solidFill>
              <a:srgbClr val="DE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5375" y="980926"/>
            <a:ext cx="0" cy="3254573"/>
          </a:xfrm>
          <a:prstGeom prst="line">
            <a:avLst/>
          </a:prstGeom>
          <a:noFill/>
          <a:ln w="19050">
            <a:solidFill>
              <a:srgbClr val="DEE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7300" y="1209526"/>
            <a:ext cx="2396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020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Поздние сигналы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97300" y="1549152"/>
            <a:ext cx="2349550" cy="8102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95"/>
              </a:lnSpc>
              <a:buSzPct val="100000"/>
              <a:buChar char="•"/>
            </a:pPr>
            <a:r>
              <a:rPr lang="en-US" sz="1100" dirty="0">
                <a:solidFill>
                  <a:srgbClr val="1420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Риски маржи видны постфактум.</a:t>
            </a:r>
            <a:endParaRPr lang="en-US" sz="1100" dirty="0"/>
          </a:p>
          <a:p>
            <a:pPr algn="l" marL="114300" indent="-114300">
              <a:lnSpc>
                <a:spcPts val="1595"/>
              </a:lnSpc>
              <a:buSzPct val="100000"/>
              <a:buChar char="•"/>
            </a:pPr>
            <a:r>
              <a:rPr lang="en-US" sz="1100" dirty="0">
                <a:solidFill>
                  <a:srgbClr val="1420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Решения принимаются после ручных сверок.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70699" y="980926"/>
            <a:ext cx="2692450" cy="3254573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70699" y="1019026"/>
            <a:ext cx="2692450" cy="0"/>
          </a:xfrm>
          <a:prstGeom prst="line">
            <a:avLst/>
          </a:prstGeom>
          <a:noFill/>
          <a:ln w="76200">
            <a:solidFill>
              <a:srgbClr val="FF6A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53624" y="980926"/>
            <a:ext cx="0" cy="3254573"/>
          </a:xfrm>
          <a:prstGeom prst="line">
            <a:avLst/>
          </a:prstGeom>
          <a:noFill/>
          <a:ln w="19050">
            <a:solidFill>
              <a:srgbClr val="DEE5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0699" y="4225975"/>
            <a:ext cx="2692450" cy="0"/>
          </a:xfrm>
          <a:prstGeom prst="line">
            <a:avLst/>
          </a:prstGeom>
          <a:noFill/>
          <a:ln w="19050">
            <a:solidFill>
              <a:srgbClr val="DE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224" y="980926"/>
            <a:ext cx="0" cy="3254573"/>
          </a:xfrm>
          <a:prstGeom prst="line">
            <a:avLst/>
          </a:prstGeom>
          <a:noFill/>
          <a:ln w="19050">
            <a:solidFill>
              <a:srgbClr val="DEE5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2149" y="1209526"/>
            <a:ext cx="2396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020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Операционный шум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42149" y="1549152"/>
            <a:ext cx="2349550" cy="8102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95"/>
              </a:lnSpc>
              <a:buSzPct val="100000"/>
              <a:buChar char="•"/>
            </a:pPr>
            <a:r>
              <a:rPr lang="en-US" sz="1100" dirty="0">
                <a:solidFill>
                  <a:srgbClr val="1420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Month-close зависит от ручных ритуалов команды.</a:t>
            </a:r>
            <a:endParaRPr lang="en-US" sz="1100" dirty="0"/>
          </a:p>
          <a:p>
            <a:pPr algn="l" marL="114300" indent="-114300">
              <a:lnSpc>
                <a:spcPts val="1595"/>
              </a:lnSpc>
              <a:buSzPct val="100000"/>
              <a:buChar char="•"/>
            </a:pPr>
            <a:r>
              <a:rPr lang="en-US" sz="1100" dirty="0">
                <a:solidFill>
                  <a:srgbClr val="1420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Слабая трассируемость изменений без audit trail.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1000" y="4387900"/>
            <a:ext cx="8382000" cy="400050"/>
          </a:xfrm>
          <a:prstGeom prst="roundRect">
            <a:avLst>
              <a:gd name="adj" fmla="val 25397"/>
            </a:avLst>
          </a:prstGeom>
          <a:solidFill>
            <a:srgbClr val="1323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3400" y="4502200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Цена проблемы:</a:t>
            </a:r>
            <a:pPr algn="l" indent="0" marL="0">
              <a:buNone/>
            </a:pPr>
            <a:r>
              <a:rPr lang="en-US" sz="1200" dirty="0">
                <a:solidFill>
                  <a:srgbClr val="F1F5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потеря маржи, задержки закрытия периода, лишние часы руководителей на проверку цифр.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5555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EEF3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Copilot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3657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B8C5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Один workspace для финансового контроля, операционного исполнения и голосовых рабочих сессий.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1314301"/>
            <a:ext cx="2692450" cy="2972246"/>
          </a:xfrm>
          <a:prstGeom prst="roundRect">
            <a:avLst>
              <a:gd name="adj" fmla="val 4717"/>
            </a:avLst>
          </a:prstGeom>
          <a:solidFill>
            <a:srgbClr val="16263C"/>
          </a:solidFill>
          <a:ln w="19050">
            <a:solidFill>
              <a:srgbClr val="263A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485751"/>
            <a:ext cx="23965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FinOps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2450" y="1844427"/>
            <a:ext cx="2349550" cy="7935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План-факт и версии прогноза.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Lock месяца и контроль FX.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KPI по выручке, затратам и марже.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25850" y="1314301"/>
            <a:ext cx="2692450" cy="2972246"/>
          </a:xfrm>
          <a:prstGeom prst="roundRect">
            <a:avLst>
              <a:gd name="adj" fmla="val 4717"/>
            </a:avLst>
          </a:prstGeom>
          <a:solidFill>
            <a:srgbClr val="16263C"/>
          </a:solidFill>
          <a:ln w="19050">
            <a:solidFill>
              <a:srgbClr val="263A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97300" y="1485751"/>
            <a:ext cx="23965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OperOps/CRM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97300" y="1844427"/>
            <a:ext cx="2349550" cy="119032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Kanban задач и контроль исполнителей.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Структура проектов и связанный audit.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Прямой путь от сигнала к задаче.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70699" y="1314301"/>
            <a:ext cx="2692450" cy="2972246"/>
          </a:xfrm>
          <a:prstGeom prst="roundRect">
            <a:avLst>
              <a:gd name="adj" fmla="val 4717"/>
            </a:avLst>
          </a:prstGeom>
          <a:solidFill>
            <a:srgbClr val="16263C"/>
          </a:solidFill>
          <a:ln w="19050">
            <a:solidFill>
              <a:srgbClr val="263A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42149" y="1485751"/>
            <a:ext cx="23965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42149" y="1844427"/>
            <a:ext cx="2349550" cy="7935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Сессии, транскрипция, категоризация.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Realtime-статусы и доступы.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Создание задач из обсуждений.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000" y="4413498"/>
            <a:ext cx="8382000" cy="374452"/>
          </a:xfrm>
          <a:prstGeom prst="rect">
            <a:avLst/>
          </a:prstGeom>
          <a:solidFill>
            <a:srgbClr val="1523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19100" y="4413498"/>
            <a:ext cx="0" cy="374452"/>
          </a:xfrm>
          <a:prstGeom prst="line">
            <a:avLst/>
          </a:prstGeom>
          <a:noFill/>
          <a:ln w="76200">
            <a:solidFill>
              <a:srgbClr val="FF6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4150" y="4514999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Core promise: </a:t>
            </a:r>
            <a:pPr algn="l" indent="0" marL="0">
              <a:buNone/>
            </a:pPr>
            <a:r>
              <a:rPr lang="en-US" sz="1200" b="1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 data contract + one action loop</a:t>
            </a:r>
            <a:pPr algn="l" indent="0" marL="0">
              <a:buNone/>
            </a:pPr>
            <a:r>
              <a:rPr lang="en-US" sz="1200" dirty="0">
                <a:solidFill>
                  <a:srgbClr val="EEF3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вместо набора разрозненных инструментов.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55550"/>
            <a:ext cx="85496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900" b="1" dirty="0">
                <a:solidFill>
                  <a:srgbClr val="15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Для кого продукт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1000" y="927050"/>
            <a:ext cx="3566071" cy="3860899"/>
          </a:xfrm>
          <a:prstGeom prst="roundRect">
            <a:avLst>
              <a:gd name="adj" fmla="val 3561"/>
            </a:avLst>
          </a:prstGeom>
          <a:solidFill>
            <a:srgbClr val="F5F8FC"/>
          </a:solidFill>
          <a:ln w="19050">
            <a:solidFill>
              <a:srgbClr val="DCE6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098500"/>
            <a:ext cx="32876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1030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2450" y="1425476"/>
            <a:ext cx="3223171" cy="119032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B2B сервисные компании с проектной выручкой.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Сложный delivery-контур и месячный финансовый цикл.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Потребность в прозрачности маржи по проектам.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2450" y="2742754"/>
            <a:ext cx="32876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1030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Makers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2450" y="3069729"/>
            <a:ext cx="3223171" cy="59516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COO / Head of Operations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CFO / Head of Finance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Delivery Leads / PMO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24771" y="927050"/>
            <a:ext cx="2255639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61247" y="1063526"/>
            <a:ext cx="2022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61247" y="1326952"/>
            <a:ext cx="2022342" cy="545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1"/>
              </a:lnSpc>
              <a:buNone/>
            </a:pPr>
            <a:r>
              <a:rPr lang="en-US" sz="106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Нужна управляемая картина бизнеса и быстрые решения по рискам маржи.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6507361" y="927050"/>
            <a:ext cx="2255639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43836" y="1063526"/>
            <a:ext cx="2022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FinOps Lead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43836" y="1326952"/>
            <a:ext cx="2022342" cy="545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1"/>
              </a:lnSpc>
              <a:buNone/>
            </a:pPr>
            <a:r>
              <a:rPr lang="en-US" sz="106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Нужны корректные план-факт данные, lock месяца и надёжный audit.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4124771" y="2920901"/>
            <a:ext cx="2255639" cy="1867049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61247" y="3057376"/>
            <a:ext cx="2022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Delivery Lead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61247" y="3320802"/>
            <a:ext cx="2022342" cy="36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1"/>
              </a:lnSpc>
              <a:buNone/>
            </a:pPr>
            <a:r>
              <a:rPr lang="en-US" sz="106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Нужна связка часов, выручки и прогноза в контексте проектов.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6507361" y="2920901"/>
            <a:ext cx="2255639" cy="1867049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43836" y="3057376"/>
            <a:ext cx="2022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4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PMO / OperOps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43836" y="3320802"/>
            <a:ext cx="2022342" cy="545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1"/>
              </a:lnSpc>
              <a:buNone/>
            </a:pPr>
            <a:r>
              <a:rPr lang="en-US" sz="106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Нужен путь от обсуждений и сигналов к задачам без ручной потери контекста.</a:t>
            </a:r>
            <a:endParaRPr lang="en-US" sz="10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5555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15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Главные Jobs To Be Done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11126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20" dirty="0">
                <a:solidFill>
                  <a:srgbClr val="4D607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Формулировки ниже взяты из рабочих спецификаций продукта.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381000" y="1244501"/>
            <a:ext cx="8382000" cy="3042047"/>
          </a:xfrm>
          <a:prstGeom prst="roundRect">
            <a:avLst>
              <a:gd name="adj" fmla="val 4175"/>
            </a:avLst>
          </a:prstGeom>
          <a:solidFill>
            <a:srgbClr val="FFFFFF"/>
          </a:solidFill>
          <a:ln w="19050">
            <a:solidFill>
              <a:srgbClr val="DCE6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7751" y="1441252"/>
            <a:ext cx="7988498" cy="146268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"Увидеть факт/прогноз и KPI по проектам и месяцам" без ручной склейки данных.</a:t>
            </a:r>
            <a:endParaRPr lang="en-US" sz="1200" dirty="0"/>
          </a:p>
          <a:p>
            <a:pPr algn="l" marL="127000" indent="-127000">
              <a:lnSpc>
                <a:spcPts val="182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"Быстро увидеть риски и отклонения" и сразу перейти к проблемному проекту.</a:t>
            </a:r>
            <a:endParaRPr lang="en-US" sz="1200" dirty="0"/>
          </a:p>
          <a:p>
            <a:pPr algn="l" marL="127000" indent="-127000">
              <a:lnSpc>
                <a:spcPts val="182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"Внести/исправить факт по проекту и месяцу" с валидациями и audit trail.</a:t>
            </a:r>
            <a:endParaRPr lang="en-US" sz="1200" dirty="0"/>
          </a:p>
          <a:p>
            <a:pPr algn="l" marL="127000" indent="-127000">
              <a:lnSpc>
                <a:spcPts val="182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"Ускорить планирование следующего месяца" через copy forecast и версии.</a:t>
            </a:r>
            <a:endParaRPr lang="en-US" sz="1200" dirty="0"/>
          </a:p>
          <a:p>
            <a:pPr algn="l" marL="127000" indent="-127000">
              <a:lnSpc>
                <a:spcPts val="182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"Передать задачу агенту и применить изменения" в контролируемом workflow.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4413498"/>
            <a:ext cx="8382000" cy="374452"/>
          </a:xfrm>
          <a:prstGeom prst="roundRect">
            <a:avLst>
              <a:gd name="adj" fmla="val 27133"/>
            </a:avLst>
          </a:prstGeom>
          <a:solidFill>
            <a:srgbClr val="1323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4514999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4F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JTBD-модель Copilot: </a:t>
            </a:r>
            <a:pPr algn="l" indent="0" marL="0">
              <a:buNone/>
            </a:pPr>
            <a:r>
              <a:rPr lang="en-US" sz="1150" b="1" dirty="0">
                <a:solidFill>
                  <a:srgbClr val="F0F4F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Signal -&gt; Decision -&gt; Action -&gt; Traceability</a:t>
            </a:r>
            <a:pPr algn="l" indent="0" marL="0">
              <a:buNone/>
            </a:pPr>
            <a:r>
              <a:rPr lang="en-US" sz="1150" dirty="0">
                <a:solidFill>
                  <a:srgbClr val="F0F4F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5555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EEF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выбирают Copilot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36575"/>
            <a:ext cx="2692450" cy="3349972"/>
          </a:xfrm>
          <a:prstGeom prst="roundRect">
            <a:avLst>
              <a:gd name="adj" fmla="val 4717"/>
            </a:avLst>
          </a:prstGeom>
          <a:solidFill>
            <a:srgbClr val="16263C"/>
          </a:solidFill>
          <a:ln w="19050">
            <a:solidFill>
              <a:srgbClr val="29406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108025"/>
            <a:ext cx="2396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2450" y="1422350"/>
            <a:ext cx="2396541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120" dirty="0">
                <a:solidFill>
                  <a:srgbClr val="D8E3F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FinOps, OperOps/CRM и Voice работают в одном продукте с единым data contract.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3225850" y="936575"/>
            <a:ext cx="2692450" cy="3349972"/>
          </a:xfrm>
          <a:prstGeom prst="roundRect">
            <a:avLst>
              <a:gd name="adj" fmla="val 4717"/>
            </a:avLst>
          </a:prstGeom>
          <a:solidFill>
            <a:srgbClr val="16263C"/>
          </a:solidFill>
          <a:ln w="19050">
            <a:solidFill>
              <a:srgbClr val="29406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7300" y="1108025"/>
            <a:ext cx="2396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Controlled Execution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97300" y="1422350"/>
            <a:ext cx="2396541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120" dirty="0">
                <a:solidFill>
                  <a:srgbClr val="D8E3F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Критичные действия проходят через предсказуемые правила: lock, версии, согласование, audit.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070699" y="936575"/>
            <a:ext cx="2692450" cy="3349972"/>
          </a:xfrm>
          <a:prstGeom prst="roundRect">
            <a:avLst>
              <a:gd name="adj" fmla="val 4717"/>
            </a:avLst>
          </a:prstGeom>
          <a:solidFill>
            <a:srgbClr val="16263C"/>
          </a:solidFill>
          <a:ln w="19050">
            <a:solidFill>
              <a:srgbClr val="29406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42149" y="1108025"/>
            <a:ext cx="2396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Realtime Operations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42149" y="1422350"/>
            <a:ext cx="2396541" cy="825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120" dirty="0">
                <a:solidFill>
                  <a:srgbClr val="D8E3F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Сессии и обработка обновляются в реальном времени, а не через ручной refresh и постфактум-отчеты.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381000" y="4413498"/>
            <a:ext cx="8382000" cy="374452"/>
          </a:xfrm>
          <a:prstGeom prst="rect">
            <a:avLst/>
          </a:prstGeom>
          <a:solidFill>
            <a:srgbClr val="1323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19100" y="4413498"/>
            <a:ext cx="0" cy="374452"/>
          </a:xfrm>
          <a:prstGeom prst="line">
            <a:avLst/>
          </a:prstGeom>
          <a:noFill/>
          <a:ln w="76200">
            <a:solidFill>
              <a:srgbClr val="1F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801" y="4514999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EEF4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Не просто "дашборд", а </a:t>
            </a:r>
            <a:pPr algn="l" indent="0" marL="0">
              <a:buNone/>
            </a:pPr>
            <a:r>
              <a:rPr lang="en-US" sz="1160" b="1" dirty="0">
                <a:solidFill>
                  <a:srgbClr val="EEF4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операционный контур</a:t>
            </a:r>
            <a:pPr algn="l" indent="0" marL="0">
              <a:buNone/>
            </a:pPr>
            <a:r>
              <a:rPr lang="en-US" sz="1160" dirty="0">
                <a:solidFill>
                  <a:srgbClr val="EEF4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для регулярных управленческих действий.</a:t>
            </a:r>
            <a:endParaRPr lang="en-US" sz="11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55550"/>
            <a:ext cx="85496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900" b="1" dirty="0">
                <a:solidFill>
                  <a:srgbClr val="1B2A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чем нас сравнивают и где мы выигрываем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1000" y="927050"/>
            <a:ext cx="2700933" cy="3860899"/>
          </a:xfrm>
          <a:prstGeom prst="roundRect">
            <a:avLst>
              <a:gd name="adj" fmla="val 4702"/>
            </a:avLst>
          </a:prstGeom>
          <a:solidFill>
            <a:srgbClr val="F8FAFD"/>
          </a:solidFill>
          <a:ln w="9525">
            <a:solidFill>
              <a:srgbClr val="D8E3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126" y="1076176"/>
            <a:ext cx="24507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315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Direct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126" y="1371451"/>
            <a:ext cx="2450735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Aft>
                <a:spcPts val="600"/>
              </a:spcAft>
              <a:buNone/>
            </a:pPr>
            <a:r>
              <a:rPr lang="en-US" sz="1120" dirty="0">
                <a:solidFill>
                  <a:srgbClr val="1B2A4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Набор внутренних OPS-инструментов + legacy контуры.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530126" y="1871216"/>
            <a:ext cx="2402681" cy="554831"/>
          </a:xfrm>
          <a:prstGeom prst="roundRect">
            <a:avLst>
              <a:gd name="adj" fmla="val 18312"/>
            </a:avLst>
          </a:prstGeom>
          <a:solidFill>
            <a:srgbClr val="1323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8976" y="1960066"/>
            <a:ext cx="2269480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4"/>
              </a:lnSpc>
              <a:buNone/>
            </a:pPr>
            <a:r>
              <a:rPr lang="en-US" sz="1060" dirty="0">
                <a:solidFill>
                  <a:srgbClr val="F0F4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Падает на склейке данных и едином workflow действий.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3221534" y="927050"/>
            <a:ext cx="2700933" cy="3860899"/>
          </a:xfrm>
          <a:prstGeom prst="roundRect">
            <a:avLst>
              <a:gd name="adj" fmla="val 4702"/>
            </a:avLst>
          </a:prstGeom>
          <a:solidFill>
            <a:srgbClr val="F8FAFD"/>
          </a:solidFill>
          <a:ln w="9525">
            <a:solidFill>
              <a:srgbClr val="D8E3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70659" y="1076176"/>
            <a:ext cx="24507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315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Secondary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70659" y="1371451"/>
            <a:ext cx="2450735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Aft>
                <a:spcPts val="600"/>
              </a:spcAft>
              <a:buNone/>
            </a:pPr>
            <a:r>
              <a:rPr lang="en-US" sz="1120" dirty="0">
                <a:solidFill>
                  <a:srgbClr val="1B2A4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Google Sheets / Excel + ручные регламенты month-close.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3370659" y="1871216"/>
            <a:ext cx="2402681" cy="554831"/>
          </a:xfrm>
          <a:prstGeom prst="roundRect">
            <a:avLst>
              <a:gd name="adj" fmla="val 18312"/>
            </a:avLst>
          </a:prstGeom>
          <a:solidFill>
            <a:srgbClr val="1323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59510" y="1960066"/>
            <a:ext cx="2269480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4"/>
              </a:lnSpc>
              <a:buNone/>
            </a:pPr>
            <a:r>
              <a:rPr lang="en-US" sz="1060" dirty="0">
                <a:solidFill>
                  <a:srgbClr val="F0F4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Высокая ручная нагрузка, слабый контроль версий и правок.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6062067" y="927050"/>
            <a:ext cx="2700933" cy="3860899"/>
          </a:xfrm>
          <a:prstGeom prst="roundRect">
            <a:avLst>
              <a:gd name="adj" fmla="val 4702"/>
            </a:avLst>
          </a:prstGeom>
          <a:solidFill>
            <a:srgbClr val="F8FAFD"/>
          </a:solidFill>
          <a:ln w="9525">
            <a:solidFill>
              <a:srgbClr val="D8E3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1193" y="1076176"/>
            <a:ext cx="24507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315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Indirect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1193" y="1371451"/>
            <a:ext cx="2450735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Aft>
                <a:spcPts val="600"/>
              </a:spcAft>
              <a:buNone/>
            </a:pPr>
            <a:r>
              <a:rPr lang="en-US" sz="1120" dirty="0">
                <a:solidFill>
                  <a:srgbClr val="1B2A4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Управление через чаты, созвоны и персональные ритуалы.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211193" y="1871216"/>
            <a:ext cx="2402681" cy="554831"/>
          </a:xfrm>
          <a:prstGeom prst="roundRect">
            <a:avLst>
              <a:gd name="adj" fmla="val 18312"/>
            </a:avLst>
          </a:prstGeom>
          <a:solidFill>
            <a:srgbClr val="1323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00043" y="1960066"/>
            <a:ext cx="2269480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4"/>
              </a:lnSpc>
              <a:buNone/>
            </a:pPr>
            <a:r>
              <a:rPr lang="en-US" sz="1060" dirty="0">
                <a:solidFill>
                  <a:srgbClr val="F0F4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Нет повторяемости и трассируемости решений.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55550"/>
            <a:ext cx="85496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900" b="1" dirty="0">
                <a:solidFill>
                  <a:srgbClr val="15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Типовые возражения и ответы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1000" y="927050"/>
            <a:ext cx="4114800" cy="3860899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>
            <a:solidFill>
              <a:srgbClr val="D7E3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2925" y="1088975"/>
            <a:ext cx="38667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102E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Возражения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2925" y="1415951"/>
            <a:ext cx="3790950" cy="82182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4"/>
              </a:lnSpc>
              <a:spcAft>
                <a:spcPts val="800"/>
              </a:spcAft>
              <a:buSzPct val="100000"/>
              <a:buChar char="•"/>
            </a:pPr>
            <a:r>
              <a:rPr lang="en-US" sz="112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"У нас уже есть CRM и таблицы"</a:t>
            </a:r>
            <a:endParaRPr lang="en-US" sz="1120" dirty="0"/>
          </a:p>
          <a:p>
            <a:pPr algn="l" marL="114300" indent="-114300">
              <a:lnSpc>
                <a:spcPts val="1624"/>
              </a:lnSpc>
              <a:spcAft>
                <a:spcPts val="800"/>
              </a:spcAft>
              <a:buSzPct val="100000"/>
              <a:buChar char="•"/>
            </a:pPr>
            <a:r>
              <a:rPr lang="en-US" sz="112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"Новая система = долгий онбординг"</a:t>
            </a:r>
            <a:endParaRPr lang="en-US" sz="1120" dirty="0"/>
          </a:p>
          <a:p>
            <a:pPr algn="l" marL="114300" indent="-114300">
              <a:lnSpc>
                <a:spcPts val="1624"/>
              </a:lnSpc>
              <a:spcAft>
                <a:spcPts val="800"/>
              </a:spcAft>
              <a:buSzPct val="100000"/>
              <a:buChar char="•"/>
            </a:pPr>
            <a:r>
              <a:rPr lang="en-US" sz="112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"AI-правки слишком рискованны"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4648200" y="927050"/>
            <a:ext cx="4114800" cy="3860899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>
            <a:solidFill>
              <a:srgbClr val="D7E3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10125" y="1088975"/>
            <a:ext cx="38667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102E4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Ответ Copilot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10125" y="1415951"/>
            <a:ext cx="3790950" cy="209222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4"/>
              </a:lnSpc>
              <a:spcAft>
                <a:spcPts val="800"/>
              </a:spcAft>
              <a:buSzPct val="100000"/>
              <a:buChar char="•"/>
            </a:pPr>
            <a:r>
              <a:rPr lang="en-US" sz="112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Мы не заменяем источники, а связываем их в управляемый action loop.</a:t>
            </a:r>
            <a:endParaRPr lang="en-US" sz="1120" dirty="0"/>
          </a:p>
          <a:p>
            <a:pPr algn="l" marL="114300" indent="-114300">
              <a:lnSpc>
                <a:spcPts val="1624"/>
              </a:lnSpc>
              <a:spcAft>
                <a:spcPts val="800"/>
              </a:spcAft>
              <a:buSzPct val="100000"/>
              <a:buChar char="•"/>
            </a:pPr>
            <a:r>
              <a:rPr lang="en-US" sz="112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Основа уже встроена в текущую инфраструктуру Strato Space.</a:t>
            </a:r>
            <a:endParaRPr lang="en-US" sz="1120" dirty="0"/>
          </a:p>
          <a:p>
            <a:pPr algn="l" marL="114300" indent="-114300">
              <a:lnSpc>
                <a:spcPts val="1624"/>
              </a:lnSpc>
              <a:spcAft>
                <a:spcPts val="800"/>
              </a:spcAft>
              <a:buSzPct val="100000"/>
              <a:buChar char="•"/>
            </a:pPr>
            <a:r>
              <a:rPr lang="en-US" sz="112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Workflow построен на контроле и audit trail.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5038725" y="1891903"/>
            <a:ext cx="363359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spcBef>
                <a:spcPts val="500"/>
              </a:spcBef>
              <a:spcAft>
                <a:spcPts val="1080"/>
              </a:spcAft>
              <a:buNone/>
            </a:pPr>
            <a:r>
              <a:rPr lang="en-US" sz="1080" dirty="0">
                <a:solidFill>
                  <a:srgbClr val="0D6B5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FinOps + OperOps + Voice в одном контуре.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038725" y="2703761"/>
            <a:ext cx="363359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spcBef>
                <a:spcPts val="500"/>
              </a:spcBef>
              <a:spcAft>
                <a:spcPts val="1080"/>
              </a:spcAft>
              <a:buNone/>
            </a:pPr>
            <a:r>
              <a:rPr lang="en-US" sz="1080" dirty="0">
                <a:solidFill>
                  <a:srgbClr val="0D6B5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Меньше интеграционного трения.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038725" y="3309342"/>
            <a:ext cx="363359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spcBef>
                <a:spcPts val="500"/>
              </a:spcBef>
              <a:spcAft>
                <a:spcPts val="1080"/>
              </a:spcAft>
              <a:buNone/>
            </a:pPr>
            <a:r>
              <a:rPr lang="en-US" sz="1080" dirty="0">
                <a:solidFill>
                  <a:srgbClr val="0D6B5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Suggest -&gt; Approve -&gt; Apply, без silent-изменений.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55550"/>
            <a:ext cx="85496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900" b="1" dirty="0">
                <a:solidFill>
                  <a:srgbClr val="F0F5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Points и ориентиры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1000" y="927050"/>
            <a:ext cx="2000250" cy="879277"/>
          </a:xfrm>
          <a:prstGeom prst="roundRect">
            <a:avLst>
              <a:gd name="adj" fmla="val 12999"/>
            </a:avLst>
          </a:prstGeom>
          <a:solidFill>
            <a:srgbClr val="17273E"/>
          </a:solidFill>
          <a:ln w="9525">
            <a:solidFill>
              <a:srgbClr val="2E456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7475" y="106352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FC0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Целевой масштаб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517475" y="1231702"/>
            <a:ext cx="17618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17475" y="1526977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FC0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проектов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2508200" y="927050"/>
            <a:ext cx="2000250" cy="879277"/>
          </a:xfrm>
          <a:prstGeom prst="roundRect">
            <a:avLst>
              <a:gd name="adj" fmla="val 12999"/>
            </a:avLst>
          </a:prstGeom>
          <a:solidFill>
            <a:srgbClr val="17273E"/>
          </a:solidFill>
          <a:ln w="9525">
            <a:solidFill>
              <a:srgbClr val="2E456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44676" y="106352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FC0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Plan-Fact response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644676" y="1231702"/>
            <a:ext cx="17618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&lt;=5s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44676" y="1526977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FC0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на 1000 проектов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4635401" y="927050"/>
            <a:ext cx="2000250" cy="879277"/>
          </a:xfrm>
          <a:prstGeom prst="roundRect">
            <a:avLst>
              <a:gd name="adj" fmla="val 12999"/>
            </a:avLst>
          </a:prstGeom>
          <a:solidFill>
            <a:srgbClr val="17273E"/>
          </a:solidFill>
          <a:ln w="9525">
            <a:solidFill>
              <a:srgbClr val="2E456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71876" y="106352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FC0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Обновление факта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771876" y="1231702"/>
            <a:ext cx="17618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&lt;=10s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71876" y="1526977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FC0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цель UX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762601" y="927050"/>
            <a:ext cx="2000250" cy="879277"/>
          </a:xfrm>
          <a:prstGeom prst="roundRect">
            <a:avLst>
              <a:gd name="adj" fmla="val 12999"/>
            </a:avLst>
          </a:prstGeom>
          <a:solidFill>
            <a:srgbClr val="17273E"/>
          </a:solidFill>
          <a:ln w="9525">
            <a:solidFill>
              <a:srgbClr val="2E456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99077" y="106352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FC0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Voice regression run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899077" y="1231702"/>
            <a:ext cx="17618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99077" y="1526977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FC0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таргетный тест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381000" y="1933277"/>
            <a:ext cx="8382000" cy="2468761"/>
          </a:xfrm>
          <a:prstGeom prst="roundRect">
            <a:avLst>
              <a:gd name="adj" fmla="val 4630"/>
            </a:avLst>
          </a:prstGeom>
          <a:solidFill>
            <a:srgbClr val="1323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3400" y="2085677"/>
            <a:ext cx="82387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1F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Ценности, которые можно доказать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3400" y="2412653"/>
            <a:ext cx="8077200" cy="63400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64"/>
              </a:lnSpc>
              <a:buSzPct val="100000"/>
              <a:buChar char="•"/>
            </a:pPr>
            <a:r>
              <a:rPr lang="en-US" sz="1140" b="1" dirty="0">
                <a:solidFill>
                  <a:srgbClr val="F0F5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Скорость:</a:t>
            </a:r>
            <a:pPr algn="l" indent="0" marL="0">
              <a:lnSpc>
                <a:spcPts val="1664"/>
              </a:lnSpc>
              <a:buNone/>
            </a:pPr>
            <a:r>
              <a:rPr lang="en-US" sz="1140" dirty="0">
                <a:solidFill>
                  <a:srgbClr val="F0F5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KPI + alerts + drilldown + actions в одном интерфейсе.</a:t>
            </a:r>
            <a:endParaRPr lang="en-US" sz="1140" dirty="0"/>
          </a:p>
          <a:p>
            <a:pPr algn="l" marL="114300" indent="-114300">
              <a:lnSpc>
                <a:spcPts val="1664"/>
              </a:lnSpc>
              <a:buSzPct val="100000"/>
              <a:buChar char="•"/>
            </a:pPr>
            <a:r>
              <a:rPr lang="en-US" sz="1140" b="1" dirty="0">
                <a:solidFill>
                  <a:srgbClr val="F0F5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Контроль:</a:t>
            </a:r>
            <a:pPr algn="l" indent="0" marL="0">
              <a:lnSpc>
                <a:spcPts val="1664"/>
              </a:lnSpc>
              <a:buNone/>
            </a:pPr>
            <a:r>
              <a:rPr lang="en-US" sz="1140" dirty="0">
                <a:solidFill>
                  <a:srgbClr val="F0F5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month lock, audit лог, контрактные API и role-based доступы.</a:t>
            </a:r>
            <a:endParaRPr lang="en-US" sz="1140" dirty="0"/>
          </a:p>
          <a:p>
            <a:pPr algn="l" marL="114300" indent="-114300">
              <a:lnSpc>
                <a:spcPts val="1664"/>
              </a:lnSpc>
              <a:buSzPct val="100000"/>
              <a:buChar char="•"/>
            </a:pPr>
            <a:r>
              <a:rPr lang="en-US" sz="1140" b="1" dirty="0">
                <a:solidFill>
                  <a:srgbClr val="F0F5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Прозрачность:</a:t>
            </a:r>
            <a:pPr algn="l" indent="0" marL="0">
              <a:lnSpc>
                <a:spcPts val="1664"/>
              </a:lnSpc>
              <a:buNone/>
            </a:pPr>
            <a:r>
              <a:rPr lang="en-US" sz="1140" dirty="0">
                <a:solidFill>
                  <a:srgbClr val="F0F5F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путь от voice-сигнала до задачи и финального решения.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381000" y="4503539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40"/>
              </a:spcAft>
              <a:buNone/>
            </a:pPr>
            <a:r>
              <a:rPr lang="en-US" sz="1040" dirty="0">
                <a:solidFill>
                  <a:srgbClr val="9EB0C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Источник: рабочие спецификации и README/AGENTS репозитория Copilot.</a:t>
            </a:r>
            <a:endParaRPr 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55550"/>
            <a:ext cx="85496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15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Discovery-предложение на ближайшие 90 дней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339751"/>
            <a:ext cx="2709416" cy="2908548"/>
          </a:xfrm>
          <a:prstGeom prst="roundRect">
            <a:avLst>
              <a:gd name="adj" fmla="val 4687"/>
            </a:avLst>
          </a:prstGeom>
          <a:solidFill>
            <a:srgbClr val="F8FAFD"/>
          </a:solidFill>
          <a:ln w="9525">
            <a:solidFill>
              <a:srgbClr val="D7E3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126" y="1488877"/>
            <a:ext cx="24593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2F5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0-30 дней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126" y="1803202"/>
            <a:ext cx="2411164" cy="99193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Зафиксировать ICP и целевые портфели проектов.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Согласовать KPI успеха пилота.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Подготовить baseline по текущим процессам.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17366" y="1339751"/>
            <a:ext cx="2709416" cy="2908548"/>
          </a:xfrm>
          <a:prstGeom prst="roundRect">
            <a:avLst>
              <a:gd name="adj" fmla="val 4687"/>
            </a:avLst>
          </a:prstGeom>
          <a:solidFill>
            <a:srgbClr val="F8FAFD"/>
          </a:solidFill>
          <a:ln w="9525">
            <a:solidFill>
              <a:srgbClr val="D7E3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66492" y="1488877"/>
            <a:ext cx="24593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2F5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31-60 дней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66492" y="1803202"/>
            <a:ext cx="2411164" cy="119032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Запустить pilot-контур Plan-Fact + Analytics.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Подключить OperOps/Voice сценарии для action loop.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Провести цикл возражений и донастройки UX.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53733" y="1339751"/>
            <a:ext cx="2709416" cy="2908548"/>
          </a:xfrm>
          <a:prstGeom prst="roundRect">
            <a:avLst>
              <a:gd name="adj" fmla="val 4687"/>
            </a:avLst>
          </a:prstGeom>
          <a:solidFill>
            <a:srgbClr val="F8FAFD"/>
          </a:solidFill>
          <a:ln w="9525">
            <a:solidFill>
              <a:srgbClr val="D7E3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2859" y="1488877"/>
            <a:ext cx="24593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2F5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61-90 дней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02859" y="1803202"/>
            <a:ext cx="2411164" cy="119032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Оценить эффект на скорость решений и month-close.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Утвердить roadmap масштабирования.</a:t>
            </a:r>
            <a:endParaRPr lang="en-US" sz="1100" dirty="0"/>
          </a:p>
          <a:p>
            <a:pPr algn="l" marL="114300" indent="-114300">
              <a:lnSpc>
                <a:spcPts val="1562"/>
              </a:lnSpc>
              <a:buSzPct val="100000"/>
              <a:buChar char="•"/>
            </a:pPr>
            <a:r>
              <a:rPr lang="en-US" sz="1100" dirty="0">
                <a:solidFill>
                  <a:srgbClr val="1523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Подготовить full GTM narrative для внутренних команд.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000" y="4387900"/>
            <a:ext cx="8382000" cy="400050"/>
          </a:xfrm>
          <a:prstGeom prst="roundRect">
            <a:avLst>
              <a:gd name="adj" fmla="val 28571"/>
            </a:avLst>
          </a:prstGeom>
          <a:solidFill>
            <a:srgbClr val="1323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0601" y="4502200"/>
            <a:ext cx="82648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Запрос к PMO:</a:t>
            </a:r>
            <a:pPr algn="l" indent="0" marL="0">
              <a:buNone/>
            </a:pPr>
            <a:r>
              <a:rPr lang="en-US" sz="1200" dirty="0">
                <a:solidFill>
                  <a:srgbClr val="F1F5F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подтвердить pilot scope на 1 продуктовый портфель и владельца метрик.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Strato 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Marketing Deck</dc:title>
  <dc:subject>Copilot marketing discovery presentation</dc:subject>
  <dc:creator>Strato Space</dc:creator>
  <cp:lastModifiedBy>Strato Space</cp:lastModifiedBy>
  <cp:revision>1</cp:revision>
  <dcterms:created xsi:type="dcterms:W3CDTF">2026-03-03T15:42:14Z</dcterms:created>
  <dcterms:modified xsi:type="dcterms:W3CDTF">2026-03-03T15:42:14Z</dcterms:modified>
</cp:coreProperties>
</file>